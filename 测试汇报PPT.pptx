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移动应用测试  期末课程汇报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011680"/>
            <a:ext cx="393192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8A6FF"/>
                </a:solidFill>
                <a:latin typeface="Microsoft YaHei"/>
              </a:defRPr>
            </a:pPr>
            <a:r>
              <a:t>BasicTestApplication 测试方案与实践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4"/>
                </a:solidFill>
                <a:latin typeface="Microsoft YaHei"/>
              </a:defRPr>
            </a:pPr>
            <a:r>
              <a:t>7 种测试方法  |  60 个单元用例  |  14 个 GUI 用例  |  100% 通过率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5778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864"/>
                </a:solidFill>
                <a:latin typeface="Microsoft YaHei"/>
              </a:defRPr>
            </a:pPr>
            <a:r>
              <a:t>JUnit 4  ·  MockK  ·  JaCoCo  ·  Kakao/Cup  ·  UiAutomator  ·  Monkey  ·  APK 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项目介绍 &amp; 测试环境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Microsoft YaHei"/>
              </a:defRPr>
            </a:pPr>
            <a:r>
              <a:t>被测应用概况  /  技术栈  /  测试环境配置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0972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5303520" cy="23774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Microsoft YaHei"/>
              </a:defRPr>
            </a:pPr>
            <a:r>
              <a:t>📱 被测应用：BasicTestApplication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484632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一个综合运用现代 Android 组件的示例应用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单 Activity + Jetpack Compose (Material 3) UI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MVVM 架构 + Hilt 依赖注入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核心功能：点击按钮 → 生成随机数 → 存缓存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桌面 Glance 小组件 + 后台定期刷新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50 项 LazyColumn 列表 + 滚动到顶部按钮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394960" cy="23774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14300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⚙️ 测试环境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44752"/>
            <a:ext cx="493776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Windows 11  |  JDK 17  |  Kotlin 1.9.23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Gradle 8.3.0 + AGP 8.3.0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JUnit 4.13.2 + MockK 1.13.8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kotlinx-coroutines-test 1.7.3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Kakao/Cup 0.2.3 + UiAutomator 2.2.0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JaCoCo (AGP 内置)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测试设备：Pixel 6 模拟器 API 34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11064240" cy="256032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49040"/>
            <a:ext cx="10607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883E"/>
                </a:solidFill>
                <a:latin typeface="Microsoft YaHei"/>
              </a:defRPr>
            </a:pPr>
            <a:r>
              <a:t>📂 源文件 (10个) + 测试文件 (9个) + 脚本 (5个)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50792"/>
            <a:ext cx="10607040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业务层：App.kt / MainActivity.kt / MainViewModel.kt / LocalCacheSample.kt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功能模块：di/AppModule.kt / glance/(Provider+Widget+Receiver) / worker/WidgetWorker.kt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单元测试(6)：TodoListTest(17) / LocalCacheSampleImplTest(15) / MainViewModelTest(7) / WidgetWorkerAdapterTest(3) / MainViewModelMockKTest(12) / GlanceDataProviderMockKTest(6)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GUI测试(3)：MainActivityScreen.kt(ScreenModel) / MainActivityScreenTest.kt(8) / UiAutomatorTest.kt(6)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脚本(5)：monkey_test.sh/bat / apk_test.sh/bat / generate_report.py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测试体系总览 — 测试金字塔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Microsoft YaHei"/>
              </a:defRPr>
            </a:pPr>
            <a:r>
              <a:t>底层快而多，上层慢而少，层层互补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0972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1097280"/>
            <a:ext cx="3931920" cy="621792"/>
          </a:xfrm>
          <a:prstGeom prst="roundRect">
            <a:avLst/>
          </a:prstGeom>
          <a:solidFill>
            <a:srgbClr val="EA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15214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Monkey + APK 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40817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3个场景 + 9步流水线  |  3~10分钟  |  发布前跑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783080"/>
            <a:ext cx="6309360" cy="621792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83794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GUI 自动化测试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09397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Kakao/Cup(8) + UiAutomator(6)  |  1~2分钟  |  功能完成时跑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468880"/>
            <a:ext cx="8503920" cy="621792"/>
          </a:xfrm>
          <a:prstGeom prst="round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523744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MockK 辅助测试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779776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7种Mock模式, 18用例  |  合并在单元测试中跑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54680"/>
            <a:ext cx="11064240" cy="621792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0954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JUnit 单元测试 + JaCoCo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6557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60个用例, 100%通过, 3.95秒  |  每次改代码都跑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5303520" cy="14630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148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Microsoft YaHei"/>
              </a:defRPr>
            </a:pPr>
            <a:r>
              <a:t>🎯 测试策略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16552"/>
            <a:ext cx="484632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每次改代码 → 跑单元测试（只需4秒）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功能模块完成 → 跑GUI测试（验证UI交互）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准备发布 → 跑Monkey+APK全流程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JaCoCo 覆盖率报告随单元测试自动生成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23360"/>
            <a:ext cx="5394960" cy="14630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11480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📊 覆盖原则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416552"/>
            <a:ext cx="49377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每个源码类至少被2种测试方法覆盖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核心类 (MainViewModel) 被5种方法覆盖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UI层依赖GUI测试，逻辑层依赖单元测试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没有一种方法能覆盖所有情况 → 组合使用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JUnit 4 单元测试 — 是什么 &amp; 怎么用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Microsoft YaHei"/>
              </a:defRPr>
            </a:pPr>
            <a:r>
              <a:t>最基础的测试方法：把代码拆成最小单元，逐一验证行为是否正确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0972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5303520" cy="228600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Microsoft YaHei"/>
              </a:defRPr>
            </a:pPr>
            <a:r>
              <a:t>❓ 什么是单元测试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4846320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把代码拆成最小"单元"（一个方法 / 一个类），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单独验证每个单元的行为是否正确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例子：setTodos([A, B, C]) 之后，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getTodos() 应该返回 [A, B, C]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用 @Test 标记测试方法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用 assertEquals / assertTrue 来"断言"结果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断言失败 = 测试不通过 = 代码有bug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394960" cy="228600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14300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🔧 JUnit 核心注解 (我实际用到的)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44752"/>
            <a:ext cx="4937760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@Test — 标记一个方法是测试用例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@Before — 每个@Test前运行，准备测试数据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assertEquals(expected, actual) — 断言相等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assertTrue / assertFalse — 断言真/假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assertNotNull / assertNull — 断言非空/空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= runTest { ... } — 提供协程测试环境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Flow.first() — 取Flow发射的第一个值并挂起等待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66160"/>
            <a:ext cx="5303520" cy="2606040"/>
          </a:xfrm>
          <a:prstGeom prst="roundRect">
            <a:avLst/>
          </a:prstGeom>
          <a:solidFill>
            <a:srgbClr val="0B0F16"/>
          </a:solidFill>
          <a:ln w="12700">
            <a:solidFill>
              <a:srgbClr val="252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675888"/>
            <a:ext cx="4974336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// TodoList 数据类测试 — 最简单的单元测试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@Test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fun `构造函数 - 传入普通字符串`() {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    val todo = TodoList("test_data")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    assertEquals("test_data", todo.data)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@Test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fun `equals - 相同data的两个对象应相等`() {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    val todo1 = TodoList("hello")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    val todo2 = TodoList("hello")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    assertEquals(todo1, todo2)  // 比较值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    assertTrue(todo1 == todo2)  // == 运算符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394960" cy="2606040"/>
          </a:xfrm>
          <a:prstGeom prst="roundRect">
            <a:avLst/>
          </a:prstGeom>
          <a:solidFill>
            <a:srgbClr val="0B0F16"/>
          </a:solidFill>
          <a:ln w="12700">
            <a:solidFill>
              <a:srgbClr val="252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3675888"/>
            <a:ext cx="5065776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// 缓存层 LocalCacheSampleImpl 测试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// 初始状态 + 读写一致性 + Flow响应式 + 边界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@Test  // 初始状态测试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fun `getTodos - 初始状态返回空列表`() {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    assertEquals(0, sut.getTodos().size)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@Test  // 协程测试：runTest + Flow.first()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fun `getTodosFlow - setTodos后发射新数据`()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    = runTest {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    sut.setTodos(listOf(TodoList("new item")))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    val firstEmission = sut.getTodosFlow().first()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    assertEquals(1, firstEmission.size)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    assertEquals("new item", firstEmission[0]?.data)</a:t>
            </a:r>
          </a:p>
          <a:p>
            <a:pPr>
              <a:spcAft>
                <a:spcPts val="300"/>
              </a:spcAft>
              <a:defRPr sz="900">
                <a:solidFill>
                  <a:srgbClr val="3FB950"/>
                </a:solidFill>
                <a:latin typeface="Microsoft YaHei"/>
              </a:defRPr>
            </a:pPr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JUnit 4 单元测试 — 测试结果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Microsoft YaHei"/>
              </a:defRPr>
            </a:pPr>
            <a:r>
              <a:t>6 个测试类  |  60 个用例  |  0 失败  |  100% 通过率  |  总耗时 3.953 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0972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651760" cy="749808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247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58A6FF"/>
                </a:solidFill>
                <a:latin typeface="Microsoft YaHei"/>
              </a:defRPr>
            </a:pPr>
            <a: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904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YaHei"/>
              </a:defRPr>
            </a:pPr>
            <a:r>
              <a:t>测试用例总数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051560"/>
            <a:ext cx="2651760" cy="749808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1247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FB950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4904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YaHei"/>
              </a:defRPr>
            </a:pPr>
            <a:r>
              <a:t>失败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51560"/>
            <a:ext cx="2651760" cy="749808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1247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FB950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4904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YaHei"/>
              </a:defRPr>
            </a:pPr>
            <a:r>
              <a:t>通过率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051560"/>
            <a:ext cx="2651760" cy="749808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1247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0883E"/>
                </a:solidFill>
                <a:latin typeface="Microsoft YaHei"/>
              </a:defRPr>
            </a:pPr>
            <a:r>
              <a:t>3.953s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4904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YaHei"/>
              </a:defRPr>
            </a:pPr>
            <a:r>
              <a:t>总耗时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2011680"/>
          <a:ext cx="11521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31520"/>
                <a:gridCol w="914400"/>
                <a:gridCol w="6949440"/>
              </a:tblGrid>
              <a:tr h="44413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58A6FF"/>
                          </a:solidFill>
                          <a:latin typeface="Microsoft YaHei"/>
                        </a:defRPr>
                      </a:pPr>
                      <a:r>
                        <a:t>测试类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A6FF"/>
                          </a:solidFill>
                          <a:latin typeface="Microsoft YaHei"/>
                        </a:defRPr>
                      </a:pPr>
                      <a:r>
                        <a:t>用例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A6FF"/>
                          </a:solidFill>
                          <a:latin typeface="Microsoft YaHei"/>
                        </a:defRPr>
                      </a:pPr>
                      <a:r>
                        <a:t>耗时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A6FF"/>
                          </a:solidFill>
                          <a:latin typeface="Microsoft YaHei"/>
                        </a:defRPr>
                      </a:pPr>
                      <a:r>
                        <a:t>测试内容说明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TodoListTest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0.001s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验证 data class 自动生成方法：构造/equals/copy/toString/hashCode/解构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LocalCacheSampleImplTest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0.025s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验证缓存层：初始状态/读写一致性/Flow响应式/StateFlow/边界条件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MainViewModelTest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0.038s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验证 ViewModel：初始化/数据流暴露/setDataToCache逻辑/随机性验证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WidgetWorkerAdapterTest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0.337s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验证 WorkManager 调度：入队调用/多次调用/策略参数(CANCEL_AND_REENQUEUE)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MainViewModelMockKTest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0.572s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MockK 专项：7种Mock模式逐一演示（基本/异常/relaxed/捕获/次数/顺序/spyk）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GlanceDataProviderMockKTest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2.980s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MockK 专项：DataStore 交互模式验证/边界场景/Preferences读取逻辑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48640" y="5303520"/>
            <a:ext cx="11064240" cy="10058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94960"/>
            <a:ext cx="10607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📊 关键发现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96712"/>
            <a:ext cx="106070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最慢：GlanceDataProviderMockKTest (2.98s) — MockK 首次初始化 DataStore 相关类需要反射加载   最快：TodoListTest (0.001s) — 纯数据类无依赖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所有测试都在 JVM 本地运行，不需要 Android 设备，每次提交代码前跑一遍只需 4 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MockK — 什么是 Mock，为什么要 Mock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Microsoft YaHei"/>
              </a:defRPr>
            </a:pPr>
            <a:r>
              <a:t>测试有依赖的类时，用"假对象"替换真实依赖，从而隔离测试目标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0972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5303520" cy="23774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Microsoft YaHei"/>
              </a:defRPr>
            </a:pPr>
            <a:r>
              <a:t>❓ 什么是 Mock（模拟对象）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484632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MainViewModel 依赖 2 个对象：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LocalCacheSampleImpl（内存缓存）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GlanceDataProvider（DataStore持久化）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如果直接用真实对象测试 ViewModel：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1. 必须连 Android 设备（DataStore需要）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2. 出问题时不知是ViewModel还是依赖的错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Mock思路：创建"假的"依赖对象，精确控制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它的行为 → 单独验证 ViewModel 的逻辑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394960" cy="23774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14300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🔧 MockK 核心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44752"/>
            <a:ext cx="493776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MockK 是专为 Kotlin 设计的 Mock 框架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mockk&lt;T&gt;()  — 创建一个假对象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every { } returns ...  — 定义普通方法的行为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coEvery { } just runs  — 定义suspend方法的行为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verify { }  — 验证方法被调了几次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coVerify { }  — 验证suspend方法被调了几次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相比Java的Mockito，MockK原生支持：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Kotlin协程(coEvery/coVerify)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final类(不需要额外配置)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object单例、扩展函数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11064240" cy="2514600"/>
          </a:xfrm>
          <a:prstGeom prst="roundRect">
            <a:avLst/>
          </a:prstGeom>
          <a:solidFill>
            <a:srgbClr val="0B0F16"/>
          </a:solidFill>
          <a:ln w="12700">
            <a:solidFill>
              <a:srgbClr val="252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767328"/>
            <a:ext cx="1073505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FB950"/>
                </a:solidFill>
                <a:latin typeface="Microsoft YaHei"/>
              </a:defRPr>
            </a:pPr>
            <a:r>
              <a:t>// Mock示例：测试 MainViewModel.setDataToCache()  — 不依赖真实DataStore，不依赖真实缓存</a:t>
            </a:r>
          </a:p>
          <a:p>
            <a:pPr>
              <a:spcAft>
                <a:spcPts val="300"/>
              </a:spcAft>
              <a:defRPr sz="1000">
                <a:solidFill>
                  <a:srgbClr val="3FB9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3FB950"/>
                </a:solidFill>
                <a:latin typeface="Microsoft YaHei"/>
              </a:defRPr>
            </a:pPr>
            <a:r>
              <a:t>val mockCache = mockk&lt;LocalCacheSampleImpl&gt;(relaxed = true)      // ① 创建假缓存对象</a:t>
            </a:r>
          </a:p>
          <a:p>
            <a:pPr>
              <a:spcAft>
                <a:spcPts val="300"/>
              </a:spcAft>
              <a:defRPr sz="1000">
                <a:solidFill>
                  <a:srgbClr val="3FB950"/>
                </a:solidFill>
                <a:latin typeface="Microsoft YaHei"/>
              </a:defRPr>
            </a:pPr>
            <a:r>
              <a:t>val mockGlance = mockk&lt;GlanceDataProvider&gt;()                     // ② 创建假 DataStore 对象</a:t>
            </a:r>
          </a:p>
          <a:p>
            <a:pPr>
              <a:spcAft>
                <a:spcPts val="300"/>
              </a:spcAft>
              <a:defRPr sz="1000">
                <a:solidFill>
                  <a:srgbClr val="3FB9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3FB950"/>
                </a:solidFill>
                <a:latin typeface="Microsoft YaHei"/>
              </a:defRPr>
            </a:pPr>
            <a:r>
              <a:t>coEvery { mockGlance.saveText(any()) } just runs                 // ③ 定义：调用saveText时什么都不做</a:t>
            </a:r>
          </a:p>
          <a:p>
            <a:pPr>
              <a:spcAft>
                <a:spcPts val="300"/>
              </a:spcAft>
              <a:defRPr sz="1000">
                <a:solidFill>
                  <a:srgbClr val="3FB950"/>
                </a:solidFill>
                <a:latin typeface="Microsoft YaHei"/>
              </a:defRPr>
            </a:pPr>
            <a:r>
              <a:t>every { mockCache.setTodos(any()) } just runs                     // ④ 定义：调用setTodos时什么都不做</a:t>
            </a:r>
          </a:p>
          <a:p>
            <a:pPr>
              <a:spcAft>
                <a:spcPts val="300"/>
              </a:spcAft>
              <a:defRPr sz="1000">
                <a:solidFill>
                  <a:srgbClr val="3FB9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3FB950"/>
                </a:solidFill>
                <a:latin typeface="Microsoft YaHei"/>
              </a:defRPr>
            </a:pPr>
            <a:r>
              <a:t>val vm = MainViewModel(mockCache, mockGlance)                    // ⑤ 把假对象注入ViewModel</a:t>
            </a:r>
          </a:p>
          <a:p>
            <a:pPr>
              <a:spcAft>
                <a:spcPts val="300"/>
              </a:spcAft>
              <a:defRPr sz="1000">
                <a:solidFill>
                  <a:srgbClr val="3FB950"/>
                </a:solidFill>
                <a:latin typeface="Microsoft YaHei"/>
              </a:defRPr>
            </a:pPr>
            <a:r>
              <a:t>vm.setDataToCache()                                               // ⑥ 执行被测方法</a:t>
            </a:r>
          </a:p>
          <a:p>
            <a:pPr>
              <a:spcAft>
                <a:spcPts val="300"/>
              </a:spcAft>
              <a:defRPr sz="1000">
                <a:solidFill>
                  <a:srgbClr val="3FB9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3FB950"/>
                </a:solidFill>
                <a:latin typeface="Microsoft YaHei"/>
              </a:defRPr>
            </a:pPr>
            <a:r>
              <a:t>coVerify(exactly = 1) { mockGlance.saveText(any()) }             // ⑦ 验证：saveText被调了恰好1次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MockK — 7 种 Mock 模式详解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Microsoft YaHei"/>
              </a:defRPr>
            </a:pPr>
            <a:r>
              <a:t>18 个用例逐一演示每种 Mock 技术的用法和适用场景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0972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697480" cy="16916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2471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Microsoft YaHei"/>
              </a:defRPr>
            </a:pPr>
            <a:r>
              <a:t>1️⃣ 基本Mock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mockk&lt;T&gt;() 创建假对象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every{...}定义普通方法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coEvery{...}定义suspend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just runs 用于Unit方法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051560"/>
            <a:ext cx="2697480" cy="16916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12471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51"/>
                </a:solidFill>
                <a:latin typeface="Microsoft YaHei"/>
              </a:defRPr>
            </a:pPr>
            <a:r>
              <a:t>2️⃣ 异常模拟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417320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coEvery {...} throws ...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模拟DataStore写入失败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验证异常能正常传播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异常发生后调用仍被记录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051560"/>
            <a:ext cx="2697480" cy="16916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19" y="112471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Microsoft YaHei"/>
              </a:defRPr>
            </a:pPr>
            <a:r>
              <a:t>3️⃣ Relaxed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19" y="1417320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relaxed=true 宽松模式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未定义的方法自动返回默认值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vs 严格模式有对比测试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90% 场景用relaxed就够了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19" y="1051560"/>
            <a:ext cx="2697480" cy="16916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79" y="112471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883E"/>
                </a:solidFill>
                <a:latin typeface="Microsoft YaHei"/>
              </a:defRPr>
            </a:pPr>
            <a:r>
              <a:t>4️⃣ 参数捕获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79" y="1417320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slot&lt;String&gt;() 捕获单个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mutableListOf() 捕获多个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验证saveText参数是数字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随机性测试的核心手段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26079"/>
            <a:ext cx="2697480" cy="16916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999231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CFF"/>
                </a:solidFill>
                <a:latin typeface="Microsoft YaHei"/>
              </a:defRPr>
            </a:pPr>
            <a:r>
              <a:t>5️⃣ 调用次数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291839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verify(exactly=N)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verify(atLeast/atMost=N)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coVerify(exactly=0) 验证未调用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精确控制验证粒度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926079"/>
            <a:ext cx="2697480" cy="16916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2999231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4A9A"/>
                </a:solidFill>
                <a:latin typeface="Microsoft YaHei"/>
              </a:defRPr>
            </a:pPr>
            <a:r>
              <a:t>6️⃣ 调用顺序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291839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verifyOrder { ... }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只看指定方法的顺序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比 verifySequence 更实用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确保setTodos在saveText之前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2926079"/>
            <a:ext cx="2697480" cy="16916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19" y="2999231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9D3D3"/>
                </a:solidFill>
                <a:latin typeface="Microsoft YaHei"/>
              </a:defRPr>
            </a:pPr>
            <a:r>
              <a:t>7️⃣ Spyk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19" y="3291839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spyk(realObj) 代理真实对象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默认走真实逻辑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只mock指定的方法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"大部分对，只改一个返回值"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846320"/>
            <a:ext cx="5303520" cy="141732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93776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883E"/>
                </a:solidFill>
                <a:latin typeface="Microsoft YaHei"/>
              </a:defRPr>
            </a:pPr>
            <a:r>
              <a:t>⚠️ 踩过的坑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239512"/>
            <a:ext cx="48463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confirmVerified 太严格（连 getter 访问也算）→ 改用精确 verify 关键调用即可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verifySequence 问题同上 → verifyOrder 更实用（只验证指定方法，忽略无关调用）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JaCoCo 代码覆盖率 — 是什么 &amp; 怎么配置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Microsoft YaHei"/>
              </a:defRPr>
            </a:pPr>
            <a:r>
              <a:t>检查测试"覆盖"了百分之多少的代码  |  找出没被测到的死角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0972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5303520" cy="228600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Microsoft YaHei"/>
              </a:defRPr>
            </a:pPr>
            <a:r>
              <a:t>❓ 什么是代码覆盖率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4846320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单元测试跑完后，哪些代码行被执行了？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哪些没被执行？JaCoCo 来回答这个问题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原理：在编译好的 .class 字节码插入"探针"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跑测试时探针记录每一行有没有被走到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覆盖率高 ≠ 代码没问题（测试质量也重要）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覆盖率低 = 一定有很多代码没被测到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常见指标：行覆盖 / 分支覆盖(if-else两条路)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/ 方法覆盖(每个方法至少被调用一次)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394960" cy="228600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14300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⚙️ 我的 JaCoCo 配置 (4步)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44752"/>
            <a:ext cx="4937760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Step1: plugins { id("jacoco") } — 启用插件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Step2: debug { isTestCoverageEnabled=true }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      → 编译时插入探针，生成.exec数据文件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Step3: 注册 jacocoTestReport 任务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      → 依赖 testDebugUnitTest 自动跑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      → 出HTML(浏览器看)+XML(CI工具解析)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Step4: jacocoTestCoverageVerification 任务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      → 设最低覆盖率门禁 50%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      → 低于50%构建直接失败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66160"/>
            <a:ext cx="5303520" cy="265176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📊 覆盖率结果 (排除后)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59352"/>
            <a:ext cx="484632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TodoList → 接近 100%（全绿）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data class，所有自动生成方法均被测试覆盖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LocalCacheSampleImpl → &gt; 90%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只有少数 if 分支未触发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MainViewModel → ≈ 80%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部分逻辑依赖Android运行时，JVM跑不了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WidgetWorkerAdapter → ≈ 80%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WorkManager Java API，JVM 只验证调用次数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注意：JaCoCo 0.8.8 对 Java 21 报警告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但只影响JDK自带类，不影响我们的代码统计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566160"/>
            <a:ext cx="5394960" cy="265176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883E"/>
                </a:solidFill>
                <a:latin typeface="Microsoft YaHei"/>
              </a:defRPr>
            </a:pPr>
            <a:r>
              <a:t>🚫 排除规则 (这些类不参与覆盖率统计)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59352"/>
            <a:ext cx="49377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R.class / BuildConfig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→ 编译自动生成，没什么逻辑可测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di/AppModule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→ Hilt 模块，就提供一个 WorkManager 实例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ui/theme/ (Color/Theme/Type)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→ 颜色值、字体大小，纯常量定义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GlanceDataStoreWidget / WidgetReceiver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→ @Composable 函数，需设备跑，JVM覆盖不了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Hilt_* / Dagger* / *_Factory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→ Hilt 编译自动生成的注入代码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JaCoCo 工作原理图解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Microsoft YaHei"/>
              </a:defRPr>
            </a:pPr>
            <a:r>
              <a:t>从源码到覆盖率报告，完整的 5 步流程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0972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2103120" cy="2011680"/>
          </a:xfrm>
          <a:prstGeom prst="roundRect">
            <a:avLst/>
          </a:prstGeom>
          <a:solidFill>
            <a:srgbClr val="131923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  <a:latin typeface="Microsoft YaHei"/>
              </a:defRPr>
            </a:pPr>
            <a:r>
              <a:t>1. 写测试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JUnit 测试代码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8A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051560"/>
            <a:ext cx="2103120" cy="2011680"/>
          </a:xfrm>
          <a:prstGeom prst="roundRect">
            <a:avLst/>
          </a:prstGeom>
          <a:solidFill>
            <a:srgbClr val="131923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19" y="1143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FB950"/>
                </a:solidFill>
                <a:latin typeface="Microsoft YaHei"/>
              </a:defRPr>
            </a:pPr>
            <a:r>
              <a:t>2. 编译插桩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19" y="15544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javac + JaCoCo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嵌入探针到.class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19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8A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051560"/>
            <a:ext cx="2103120" cy="2011680"/>
          </a:xfrm>
          <a:prstGeom prst="roundRect">
            <a:avLst/>
          </a:prstGeom>
          <a:solidFill>
            <a:srgbClr val="131923"/>
          </a:solidFill>
          <a:ln w="254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143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883E"/>
                </a:solidFill>
                <a:latin typeface="Microsoft YaHei"/>
              </a:defRPr>
            </a:pPr>
            <a:r>
              <a:t>3. 运行测试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544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JVM执行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探针记录覆盖数据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8A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1051560"/>
            <a:ext cx="2103120" cy="2011680"/>
          </a:xfrm>
          <a:prstGeom prst="roundRect">
            <a:avLst/>
          </a:prstGeom>
          <a:solidFill>
            <a:srgbClr val="131923"/>
          </a:solidFill>
          <a:ln w="254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59" y="1143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C8CFF"/>
                </a:solidFill>
                <a:latin typeface="Microsoft YaHei"/>
              </a:defRPr>
            </a:pPr>
            <a:r>
              <a:t>4. 生成 .exec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15544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覆盖率数据文件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每行执行次数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59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8A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051560"/>
            <a:ext cx="2103120" cy="2011680"/>
          </a:xfrm>
          <a:prstGeom prst="roundRect">
            <a:avLst/>
          </a:prstGeom>
          <a:solidFill>
            <a:srgbClr val="131923"/>
          </a:solidFill>
          <a:ln w="25400">
            <a:solidFill>
              <a:srgbClr val="EA4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143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A4A9A"/>
                </a:solidFill>
                <a:latin typeface="Microsoft YaHei"/>
              </a:defRPr>
            </a:pPr>
            <a:r>
              <a:t>5. HTML 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5544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index.html 浏览器看</a:t>
            </a:r>
          </a:p>
          <a:p>
            <a:pPr>
              <a:spcAft>
                <a:spcPts val="3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绿=已覆盖 红=未覆盖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291840"/>
            <a:ext cx="5486400" cy="292608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38328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📊 HTML 报告怎么看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685032"/>
            <a:ext cx="5029200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绿色行 → 被测试覆盖到了 ✓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红色行 → 没被覆盖到 ✗（需要补测试）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黄色行 → 部分覆盖（比如if只走了一边）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报告位置：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app/build/reports/jacoco/html/index.html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浏览器直接打开就能看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我的结果（排除配置类/生成代码后）：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TodoList: 100%（全绿）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LocalCacheSampleImpl: 90%+（少量黄色）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MainViewModel: ~80%（部分红/黄）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291840"/>
            <a:ext cx="5303520" cy="292608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38328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883E"/>
                </a:solidFill>
                <a:latin typeface="Microsoft YaHei"/>
              </a:defRPr>
            </a:pPr>
            <a:r>
              <a:t>💡 覆盖率不是万能的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685032"/>
            <a:ext cx="4846320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高覆盖率 ≠ 测试写得好！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例子：不写任何断言的测试也能让覆盖率100%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但这样的测试一点用都没有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覆盖率的价值在于：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找到"没被测过的代码"→ 补测试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而不是追求100%这个数字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本项目的50%门禁是最低要求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可以逐步提高到70%或更高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GUI 自动化测试 — Kakao/Cup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Microsoft YaHei"/>
              </a:defRPr>
            </a:pPr>
            <a:r>
              <a:t>在 Compose 语义树层面测试 UI  |  Screen Model 模式  |  8 个用例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0972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5303520" cy="228600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Microsoft YaHei"/>
              </a:defRPr>
            </a:pPr>
            <a:r>
              <a:t>❓ 什么是 Kakao/Cup GUI 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4846320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传统 Android 用 Espresso 测 XML View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但 Compose 没有 View → 改用"语义树"定位元素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Kakao/Cup 是专门给 Compose 用的 UI 测试框架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核心思路 Screen Model 模式：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把每个页面的 UI 元素封装成 KNode 属性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写测试时像在描述操作流程——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"找到按钮 → 点击 → 验证数据变了"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定位依赖 testTag（必须在 UI 代码里先加上）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没有 testTag = 测试找不到元素 = 一定失败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394960" cy="228600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14300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📲 我的 Screen Model 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44752"/>
            <a:ext cx="4937760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MainActivityScreen 继承 ComposeScreen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主屏幕 testTag = "MainScreen"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5 个 KNode 属性：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cacheButton ← testTag("CacheButton")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dataTextField ← testTag("DataTextField")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footerText ← testTag("FooterTextField")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scrollToTopButton ← testTag("ScrollToTopButton")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list ← testTag("SampleList")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  每个列表项 testTag("position=$index")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这样测试代码就像在描述操作流程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66160"/>
            <a:ext cx="5303520" cy="265176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Microsoft YaHei"/>
              </a:defRPr>
            </a:pPr>
            <a:r>
              <a:t>📝 测试代码怎么看懂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59352"/>
            <a:ext cx="484632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onComposeScreen&lt;MainActivityScreen&gt;(composeTestRule) {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// ↑ 1. 打开页面，获得 Screen Model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cacheButton { performClick() }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// ↑ 2. 找到按钮，点击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dataTextField { assertIsDisplayed() }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// ↑ 3. 验证数据字段在页面上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list { performScrollToIndex(30) }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// ↑ 4. 把列表滚动到第30项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scrollToTopButton { performClick() }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// ↑ 5. 点"回到顶部"按钮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566160"/>
            <a:ext cx="5394960" cy="265176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✅ 8 个测试用例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59352"/>
            <a:ext cx="49377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1. 按钮显示 — cacheButton存在且可见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2. 点击更新 — 点击后dataTextField内容变化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3. 列表首项 — 第1项文本="1"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4. 全部50项 — 滚到第25/50项，验证="25"/"50"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5. Footer可见 — 滚到底Footer出现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6. Footer存在 — 不滚动也能找到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7. FAB出现 — 滚下去后"回顶部"按钮出现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8. FAB点击 — 点"回顶部"→列表回到第1项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覆盖了按钮交互 / 列表渲染 / 滚动 / Footer / FAB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GUI 自动化测试 — UiAutomator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Microsoft YaHei"/>
              </a:defRPr>
            </a:pPr>
            <a:r>
              <a:t>系统级跨应用测试  |  6 个用例  |  可测 Back/Home/多任务/系统交互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0972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5303520" cy="210312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C8CFF"/>
                </a:solidFill>
                <a:latin typeface="Microsoft YaHei"/>
              </a:defRPr>
            </a:pPr>
            <a:r>
              <a:t>❓ UiAutomator 和 Kakao/Cup 有什么区别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484632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Kakao/Cup：只在 App 内部，通过 Compose 语义树定位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精确但范围小，只能测自己的 Compose UI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UiAutomator：工作在 Android 系统层面，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能看到通知栏、桌面、其他App、系统对话框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通过文本内容 (By.text) 和包名 (By.pkg) 定位元素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范围广但不如 testTag 精确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两者互补：精确UI用 Kakao/Cup，系统交互用 UiAutomator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394960" cy="210312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14300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4A9A"/>
                </a:solidFill>
                <a:latin typeface="Microsoft YaHei"/>
              </a:defRPr>
            </a:pPr>
            <a:r>
              <a:t>✅ 6 个测试用例详情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44752"/>
            <a:ext cx="493776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1. 启动验证 — 等5秒，currentPackageName=我们的包名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2. 找到按钮 — By.text("Set cache value") 定位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3. 点击更新 — click → By.textContains("data:")验证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4. Back键 — pressBack() → 不崩溃即为通过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5. Home+重开 — Home → 确认退出 → 重启 → 按钮可用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6. 快速点击 — 连点5次间隔100ms → 不崩溃仍在前台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5303520" cy="256032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C8CFF"/>
                </a:solidFill>
                <a:latin typeface="Microsoft YaHei"/>
              </a:defRPr>
            </a:pPr>
            <a:r>
              <a:t>📝 UiAutomator 代码怎么读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76472"/>
            <a:ext cx="4846320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// 获取设备实例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device = UiDevice.getInstance(instrumentation)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// 等应用启动，最多等5秒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device.wait(Until.hasObject(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  By.pkg(packageName).depth(0)), 5000)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// 按文本查找按钮并点击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val btn = device.findObject(By.text("Set cache value"))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btn.click()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// 按 Back 键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device.pressBack()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// 按 Home 键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device.pressHome()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83280"/>
            <a:ext cx="5394960" cy="256032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47472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⚖️ 两种定位方式的优缺点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76472"/>
            <a:ext cx="4937760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testTag（Kakao/Cup用）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✓ 精确、不受文案变化影响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✗ 需要在UI代码中手动添加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✗ 跨应用场景用不了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文本匹配（UiAutomator用）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✓ 直观、不需要改UI代码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✓ 跨应用场景也能用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✗ App改文案测试就挂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✗ 多语言适配时不稳定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实际策略：两者组合使用，各取所长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Monkey 压力测试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Microsoft YaHei"/>
              </a:defRPr>
            </a:pPr>
            <a:r>
              <a:t>Android SDK 内置工具  |  发送大量伪随机用户事件  |  检测 Crash 和 ANR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0972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5303520" cy="228600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Microsoft YaHei"/>
              </a:defRPr>
            </a:pPr>
            <a:r>
              <a:t>❓ 什么是 Monkey 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4846320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Monkey 是 Android SDK 自带的命令行工具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(adb shell monkey)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原理很简单：向目标 App 发送大量伪随机的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用户事件 — 触摸、滑动、按键、切应用……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就像一只猴子在屏幕上乱点乱划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目的：检测 Crash 和 ANR（应用无响应）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很多崩溃只在特定操作组合下才触发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手工测试很难覆盖 → Monkey 效率很高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它是"发现问题"的工具，不是"验证正确"的工具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394960" cy="228600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14300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🎲 我设计的 3 个测试场景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44752"/>
            <a:ext cx="4937760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🐢 轻量级（冒烟测试）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500 事件 / 间隔 300ms / 种子 12345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约 2-3 分钟，每次改代码后快速验证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🐑 中量级（功能验证）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2,000 事件 / 间隔 150ms / 种子 23456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约 5 分钟，日常测试覆盖更多随机路径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🐃 重量级（压力测试）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10,000 事件 / 间隔 50ms / 种子 34567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约 8-10 分钟，发布前最终压测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三个不同种子 → 三条不同事件序列 → 覆盖更全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66160"/>
            <a:ext cx="5303520" cy="26060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Microsoft YaHei"/>
              </a:defRPr>
            </a:pPr>
            <a:r>
              <a:t>🎯 事件类型分布（模拟真实用户操作习惯）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59352"/>
            <a:ext cx="4846320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触摸 45% — 点击按钮、长按列表（用户最常做的事）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滑动 15% — 列表上下滑、左右滑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导航键 10% — 方向键（部分设备有物理按键）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主要导航 10% — 返回键、菜单键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应用切换 10% — 切到别的App再切回来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系统按键 5% — Home、音量、锁屏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轨迹球 5% — 主要为模拟器场景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脚本支持：monkey_test.bat light|medium|heavy|all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日志带时间戳存入 monkey_logs/ 目录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566160"/>
            <a:ext cx="5394960" cy="26060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🛡️ 安全参数 &amp; 实际命令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59352"/>
            <a:ext cx="4937760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--ignore-crashes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→ 崩了不要停，继续发事件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→ 一次跑完收集所有崩溃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--ignore-timeouts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→ ANR 了也继续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--monitor-native-crashes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→ JNI/C++层面的崩溃也记录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-s 固定种子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→ 某次跑出的问题可以精确复现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实际执行的命令 (中量级为例)：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adb shell monkey -p com.example.basictestapplication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-v --throttle 150 --pct-touch 45 --pct-motion 15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--ignore-crashes --ignore-timeouts -s 23456 2000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APK 打包安装测试 — 9 步自动化流水线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Microsoft YaHei"/>
              </a:defRPr>
            </a:pPr>
            <a:r>
              <a:t>从源码到设备上可运行 → 全流程验证  |  这是 CI/CD 的基础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0972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" y="1097280"/>
            <a:ext cx="1188720" cy="1417320"/>
          </a:xfrm>
          <a:prstGeom prst="roundRect">
            <a:avLst/>
          </a:prstGeom>
          <a:solidFill>
            <a:srgbClr val="131923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1430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8A6FF"/>
                </a:solidFill>
                <a:latin typeface="Microsoft YaHei"/>
              </a:defRPr>
            </a:pPr>
            <a:r>
              <a:t>1. Clean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645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4"/>
                </a:solidFill>
                <a:latin typeface="Microsoft YaHei"/>
              </a:defRPr>
            </a:pPr>
            <a:r>
              <a:t>清理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0020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A6FF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72184" y="1097280"/>
            <a:ext cx="1188720" cy="1417320"/>
          </a:xfrm>
          <a:prstGeom prst="roundRect">
            <a:avLst/>
          </a:prstGeom>
          <a:solidFill>
            <a:srgbClr val="131923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17904" y="11430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FB950"/>
                </a:solidFill>
                <a:latin typeface="Microsoft YaHei"/>
              </a:defRPr>
            </a:pPr>
            <a:r>
              <a:t>2. Build</a:t>
            </a:r>
            <a:br/>
            <a:r>
              <a:t>Debug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645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4"/>
                </a:solidFill>
                <a:latin typeface="Microsoft YaHei"/>
              </a:defRPr>
            </a:pPr>
            <a:r>
              <a:t>编译</a:t>
            </a:r>
            <a:br/>
            <a:r>
              <a:t>Debug APK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160020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A6FF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8" y="1097280"/>
            <a:ext cx="1188720" cy="1417320"/>
          </a:xfrm>
          <a:prstGeom prst="roundRect">
            <a:avLst/>
          </a:prstGeom>
          <a:solidFill>
            <a:srgbClr val="131923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2928" y="11430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FB950"/>
                </a:solidFill>
                <a:latin typeface="Microsoft YaHei"/>
              </a:defRPr>
            </a:pPr>
            <a:r>
              <a:t>3. Build</a:t>
            </a:r>
            <a:br/>
            <a:r>
              <a:t>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1645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4"/>
                </a:solidFill>
                <a:latin typeface="Microsoft YaHei"/>
              </a:defRPr>
            </a:pPr>
            <a:r>
              <a:t>编译</a:t>
            </a:r>
            <a:br/>
            <a:r>
              <a:t>Release APK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160020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A6FF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42232" y="1097280"/>
            <a:ext cx="1188720" cy="1417320"/>
          </a:xfrm>
          <a:prstGeom prst="roundRect">
            <a:avLst/>
          </a:prstGeom>
          <a:solidFill>
            <a:srgbClr val="131923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87952" y="11430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883E"/>
                </a:solidFill>
                <a:latin typeface="Microsoft YaHei"/>
              </a:defRPr>
            </a:pPr>
            <a:r>
              <a:t>4. 文件</a:t>
            </a:r>
            <a:br/>
            <a:r>
              <a:t>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645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4"/>
                </a:solidFill>
                <a:latin typeface="Microsoft YaHei"/>
              </a:defRPr>
            </a:pPr>
            <a:r>
              <a:t>APK大小</a:t>
            </a:r>
            <a:br/>
            <a:r>
              <a:t>模块分布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160020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A6FF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77256" y="1097280"/>
            <a:ext cx="1188720" cy="1417320"/>
          </a:xfrm>
          <a:prstGeom prst="roundRect">
            <a:avLst/>
          </a:prstGeom>
          <a:solidFill>
            <a:srgbClr val="131923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22976" y="11430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883E"/>
                </a:solidFill>
                <a:latin typeface="Microsoft YaHei"/>
              </a:defRPr>
            </a:pPr>
            <a:r>
              <a:t>5. Manifest</a:t>
            </a:r>
            <a:br/>
            <a:r>
              <a:t>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2976" y="1645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4"/>
                </a:solidFill>
                <a:latin typeface="Microsoft YaHei"/>
              </a:defRPr>
            </a:pPr>
            <a:r>
              <a:t>包名/版本</a:t>
            </a:r>
            <a:br/>
            <a:r>
              <a:t>权限/组件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160020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A6FF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1097280"/>
            <a:ext cx="1188720" cy="1417320"/>
          </a:xfrm>
          <a:prstGeom prst="roundRect">
            <a:avLst/>
          </a:prstGeom>
          <a:solidFill>
            <a:srgbClr val="131923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1430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C8CFF"/>
                </a:solidFill>
                <a:latin typeface="Microsoft YaHei"/>
              </a:defRPr>
            </a:pPr>
            <a:r>
              <a:t>6. 签名</a:t>
            </a:r>
            <a:br/>
            <a:r>
              <a:t>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645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4"/>
                </a:solidFill>
                <a:latin typeface="Microsoft YaHei"/>
              </a:defRPr>
            </a:pPr>
            <a:r>
              <a:t>Debug证书</a:t>
            </a:r>
            <a:br/>
            <a:r>
              <a:t>SHA-1指纹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60020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A6FF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47304" y="1097280"/>
            <a:ext cx="1188720" cy="1417320"/>
          </a:xfrm>
          <a:prstGeom prst="roundRect">
            <a:avLst/>
          </a:prstGeom>
          <a:solidFill>
            <a:srgbClr val="131923"/>
          </a:solidFill>
          <a:ln w="19050">
            <a:solidFill>
              <a:srgbClr val="EA4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4" y="11430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A4A9A"/>
                </a:solidFill>
                <a:latin typeface="Microsoft YaHei"/>
              </a:defRPr>
            </a:pPr>
            <a:r>
              <a:t>7. 安装</a:t>
            </a:r>
            <a:br/>
            <a:r>
              <a:t>设备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4" y="1645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4"/>
                </a:solidFill>
                <a:latin typeface="Microsoft YaHei"/>
              </a:defRPr>
            </a:pPr>
            <a:r>
              <a:t>adb install</a:t>
            </a:r>
            <a:br/>
            <a:r>
              <a:t>-r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160020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A6FF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82328" y="1097280"/>
            <a:ext cx="1188720" cy="1417320"/>
          </a:xfrm>
          <a:prstGeom prst="roundRect">
            <a:avLst/>
          </a:prstGeom>
          <a:solidFill>
            <a:srgbClr val="131923"/>
          </a:solidFill>
          <a:ln w="19050">
            <a:solidFill>
              <a:srgbClr val="EA4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28048" y="11430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A4A9A"/>
                </a:solidFill>
                <a:latin typeface="Microsoft YaHei"/>
              </a:defRPr>
            </a:pPr>
            <a:r>
              <a:t>8. 启动</a:t>
            </a:r>
            <a:br/>
            <a:r>
              <a:t>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8048" y="1645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4"/>
                </a:solidFill>
                <a:latin typeface="Microsoft YaHei"/>
              </a:defRPr>
            </a:pPr>
            <a:r>
              <a:t>am start</a:t>
            </a:r>
            <a:br/>
            <a:r>
              <a:t>前台确认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16767" y="160020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A6FF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817352" y="1097280"/>
            <a:ext cx="1188720" cy="1417320"/>
          </a:xfrm>
          <a:prstGeom prst="roundRect">
            <a:avLst/>
          </a:prstGeom>
          <a:solidFill>
            <a:srgbClr val="131923"/>
          </a:solidFill>
          <a:ln w="19050">
            <a:solidFill>
              <a:srgbClr val="F85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63072" y="11430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5151"/>
                </a:solidFill>
                <a:latin typeface="Microsoft YaHei"/>
              </a:defRPr>
            </a:pPr>
            <a:r>
              <a:t>9. 卸载</a:t>
            </a:r>
            <a:br/>
            <a:r>
              <a:t>清理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63072" y="1645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8C4"/>
                </a:solidFill>
                <a:latin typeface="Microsoft YaHei"/>
              </a:defRPr>
            </a:pPr>
            <a:r>
              <a:t>adb uninstall</a:t>
            </a:r>
            <a:br/>
            <a:r>
              <a:t>确认已移除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2788920"/>
            <a:ext cx="5303520" cy="182880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288036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Microsoft YaHei"/>
              </a:defRPr>
            </a:pPr>
            <a:r>
              <a:t>🛠️ 使用的工具（Android SDK 自带）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3182112"/>
            <a:ext cx="484632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apkanalyzer (build-tools)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分析：总大小、各模块大小、Manifest内容、DEX方法数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不需要设备，电脑上就能跑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apksigner (build-tools)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验证：APK 签名有效、证书SHA-1指纹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Debug构建用SDK自动生成的debug.keystore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adb (platform-tools)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install / uninstall / shell am start / shell pm list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需要连接设备或模拟器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2788920"/>
            <a:ext cx="5394960" cy="182880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288036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883E"/>
                </a:solidFill>
                <a:latin typeface="Microsoft YaHei"/>
              </a:defRPr>
            </a:pPr>
            <a:r>
              <a:t>⚠️ 容错设计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182112"/>
            <a:ext cx="493776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设备没连？→ 跳过安装/启动/卸载步骤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但前面的构建和分析照样在电脑上跑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apkanalyzer 不在PATH？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→ 跳过分析但给出[WARN]提示，不影响后续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Release签名没配？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  → 只检查文件是否存在，不做签名验证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每步输出 [PASS]/[FAIL]/[WARN]/[INFO]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最终生成带时间戳的测试报告文件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846320"/>
            <a:ext cx="11064240" cy="141732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937760"/>
            <a:ext cx="10607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📊 实际执行结果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239512"/>
            <a:ext cx="106070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Debug APK 约 7-8MB（主要体积来自 Compose + Hilt 依赖）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Manifest 含 1 个 Activity + 1 个 Receiver  |  基本无额外权限申请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所有 9 步均 [PASS]：安装成功 → 启动验证通过 → 卸载成功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GUI 测试原理图解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Microsoft YaHei"/>
              </a:defRPr>
            </a:pPr>
            <a:r>
              <a:t>Screen Model 定义 → UI代码加testTag → 测试代码调用 → 断言验证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0972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3474720" cy="23774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Microsoft YaHei"/>
              </a:defRPr>
            </a:pPr>
            <a:r>
              <a:t>① Screen Model 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301752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class MainActivityScreen(...)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: ComposeScreen&lt;...&gt;(...) {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val cacheButton: KNode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  = child {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    hasTestTag("CacheButton")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  }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val list = KLazyListNode(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  hasTestTag("SampleList")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  position = "position=$pos"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51560"/>
            <a:ext cx="3474720" cy="23774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143000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② UI 代码加 testTag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444752"/>
            <a:ext cx="301752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// MainActivity.kt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Button(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modifier = Modifier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  .testTag("CacheButton"),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onClick = {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  vm.setDataToCache()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}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) { Text("Set cache value") }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LazyColumn(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modifier = Modifier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  .testTag("SampleList")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) { itemsIndexed { index, item -&gt;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Text(item, modifier =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  Modifier.testTag(</a:t>
            </a:r>
          </a:p>
          <a:p>
            <a:pPr>
              <a:spcAft>
                <a:spcPts val="40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•       "position=$index")) }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51560"/>
            <a:ext cx="3566160" cy="23774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143000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4A9A"/>
                </a:solidFill>
                <a:latin typeface="Microsoft YaHei"/>
              </a:defRPr>
            </a:pPr>
            <a:r>
              <a:t>③ 测试代码调用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444752"/>
            <a:ext cx="310896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@Test fun testScrollToTop() {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onComposeScreen&lt;MainActivityScreen&gt;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  (composeTestRule) {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 // 1.滚到第30项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 list {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  performScrollToIndex(30)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 }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 // 2.点回顶部按钮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 scrollToTopButton {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  assertIsDisplayed()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  performClick()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 }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 // 3.验证回到顶部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 list { childWith&lt;ItemNode&gt;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  { hasText("1") } perform {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   assertTextEquals("1") }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 }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 }</a:t>
            </a:r>
          </a:p>
          <a:p>
            <a:pPr>
              <a:spcAft>
                <a:spcPts val="400"/>
              </a:spcAft>
              <a:defRPr sz="1000">
                <a:solidFill>
                  <a:srgbClr val="B0B8C4"/>
                </a:solidFill>
                <a:latin typeface="Microsoft YaHei"/>
              </a:defRPr>
            </a:pPr>
            <a:r>
              <a:t>•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011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8A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011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8A6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11064240" cy="256032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49040"/>
            <a:ext cx="10607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Microsoft YaHei"/>
              </a:defRPr>
            </a:pPr>
            <a:r>
              <a:t>📝 完整流程说明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50792"/>
            <a:ext cx="10607040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Step1: 定义 Screen Model 类 → 每个 UI 元素声明为一个 KNode 属性，通过 hasTestTag(...) 定位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Step2: 在 UI 代码里给每个关键 Composable 加上 Modifier.testTag(...)，名称和 Screen Model 中保持一致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Step3: 写测试方法 → onComposeScreen&lt;Screen类&gt;(composeTestRule) { ... } 里面像操作手册一样写流程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Step4: 在设备上运行 → ./gradlew :app:connectedDebugAndroidTest → 测试框架自动点击、滚动、验证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• 关键点：testTag 是连接 UI 代码和测试代码的桥梁。不加 testTag = 测试找不到元素 = 一定失败！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测试覆盖矩阵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Microsoft YaHei"/>
              </a:defRPr>
            </a:pPr>
            <a:r>
              <a:t>每个源码类被哪些测试方法覆盖到  |  ✅ 直接测试  |  间接 = 通过其他方法间接覆盖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0972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51560"/>
          <a:ext cx="113385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4343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58A6FF"/>
                          </a:solidFill>
                          <a:latin typeface="Microsoft YaHei"/>
                        </a:defRPr>
                      </a:pPr>
                      <a:r>
                        <a:t>源码类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A6FF"/>
                          </a:solidFill>
                          <a:latin typeface="Microsoft YaHei"/>
                        </a:defRPr>
                      </a:pPr>
                      <a:r>
                        <a:t>JUnit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A6FF"/>
                          </a:solidFill>
                          <a:latin typeface="Microsoft YaHei"/>
                        </a:defRPr>
                      </a:pPr>
                      <a:r>
                        <a:t>MockK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A6FF"/>
                          </a:solidFill>
                          <a:latin typeface="Microsoft YaHei"/>
                        </a:defRPr>
                      </a:pPr>
                      <a:r>
                        <a:t>Kakao/Cup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A6FF"/>
                          </a:solidFill>
                          <a:latin typeface="Microsoft YaHei"/>
                        </a:defRPr>
                      </a:pPr>
                      <a:r>
                        <a:t>UiAutomator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A6FF"/>
                          </a:solidFill>
                          <a:latin typeface="Microsoft YaHei"/>
                        </a:defRPr>
                      </a:pPr>
                      <a:r>
                        <a:t>Monkey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A6FF"/>
                          </a:solidFill>
                          <a:latin typeface="Microsoft YaHei"/>
                        </a:defRPr>
                      </a:pPr>
                      <a:r>
                        <a:t>APK测试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TodoList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17用例 ✅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间接覆盖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LocalCacheSampleImpl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15用例 ✅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作为Mock使用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间接覆盖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MainViewModel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7用例 ✅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12用例 ✅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按钮测试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间接覆盖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WidgetWorkerAdapter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3用例 ✅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Mock WM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GlanceDataProvider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6用例 ✅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间接覆盖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MainActivity + UI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8用例 ✅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6用例 ✅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直接覆盖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3192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APK 构建产物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55D6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FB950"/>
                          </a:solidFill>
                          <a:latin typeface="Microsoft YaHei"/>
                        </a:defRPr>
                      </a:pPr>
                      <a:r>
                        <a:t>9步验证 ✅</a:t>
                      </a:r>
                    </a:p>
                  </a:txBody>
                  <a:tcPr>
                    <a:solidFill>
                      <a:srgbClr val="141C2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754880"/>
            <a:ext cx="11064240" cy="155448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846320"/>
            <a:ext cx="10607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Microsoft YaHei"/>
              </a:defRPr>
            </a:pPr>
            <a:r>
              <a:t>📊 覆盖结论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48072"/>
            <a:ext cx="1060704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核心类 MainViewModel 被 5 种测试方法覆盖（JUnit+MockK+Kakao+Monkey+间接）— 最有保障的类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UI 层（MainActivity）依赖 GUI 测试 + Monkey — Compose函数不能在JVM上直接测，这是合理的设计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WidgetWorker 缺少直接测试（需要真实设备 + WorkManager 运行）— 后续可以用 instrumented test 来补充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TodoList 虽然最简单，但用 17 个用例覆盖了所有自动生成方法 → 保证 Kotlin 升级/data class 重构时行为不变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总结 — 测试数据一览 &amp; 心得体会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4"/>
                </a:solidFill>
                <a:latin typeface="Microsoft YaHei"/>
              </a:defRPr>
            </a:pPr>
            <a:r>
              <a:t>7 种测试方法  |  60+14 个用例  |  100% 通过率  |  从代码到设备的全覆盖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0972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1737360" cy="7772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247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58A6FF"/>
                </a:solidFill>
                <a:latin typeface="Microsoft YaHei"/>
              </a:defRPr>
            </a:pPr>
            <a: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904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YaHei"/>
              </a:defRPr>
            </a:pPr>
            <a:r>
              <a:t>单元测试用例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051560"/>
            <a:ext cx="1737360" cy="7772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1247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FB950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4904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YaHei"/>
              </a:defRPr>
            </a:pPr>
            <a:r>
              <a:t>GUI测试用例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51560"/>
            <a:ext cx="1737360" cy="7772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1247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FB950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4904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YaHei"/>
              </a:defRPr>
            </a:pPr>
            <a:r>
              <a:t>通过率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051560"/>
            <a:ext cx="1737360" cy="7772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1247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BC8C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4904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YaHei"/>
              </a:defRPr>
            </a:pPr>
            <a:r>
              <a:t>测试方法种类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051560"/>
            <a:ext cx="1737360" cy="7772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1247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0883E"/>
                </a:solidFill>
                <a:latin typeface="Microsoft YaHei"/>
              </a:defRPr>
            </a:pPr>
            <a:r>
              <a:t>3.953s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4904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YaHei"/>
              </a:defRPr>
            </a:pPr>
            <a:r>
              <a:t>单元测试耗时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1051560"/>
            <a:ext cx="1737360" cy="77724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11247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A4A9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4904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4"/>
                </a:solidFill>
                <a:latin typeface="Microsoft YaHei"/>
              </a:defRPr>
            </a:pPr>
            <a:r>
              <a:t>Monkey场景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057400"/>
            <a:ext cx="5486400" cy="411480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14884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Microsoft YaHei"/>
              </a:defRPr>
            </a:pPr>
            <a:r>
              <a:t>💡 心得体会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450592"/>
            <a:ext cx="502920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1. 写测试的时间 ≈ 写业务代码的时间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 但改代码时有测试护航会放心很多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2. MockK 对 Kotlin 协程支持很好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 coEvery/coVerify 是测试 suspend 函数的关键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 参数捕获 (slot) 是很实用的功能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3. Android 平台代码（DataStore/Composable）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 在 JVM 单元测试中很难完全 mock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 这类代码更适合用 instrumented test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4. Monkey 虽然粗暴但确实有用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 是发现隐藏 crash 最快的方法之一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 但不能替代结构化 UI 测试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5. testTag 是 Compose UI 测试的基石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 忘了加 → 测试找不到元素 → 一定失败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6. 没有一种测试方法能覆盖所有情况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 多种方法组合使用，各取所长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057400"/>
            <a:ext cx="5303520" cy="4114800"/>
          </a:xfrm>
          <a:prstGeom prst="roundRect">
            <a:avLst/>
          </a:prstGeom>
          <a:solidFill>
            <a:srgbClr val="13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14884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883E"/>
                </a:solidFill>
                <a:latin typeface="Microsoft YaHei"/>
              </a:defRPr>
            </a:pPr>
            <a:r>
              <a:t>⚠️ 踩过的坑 &amp; 解决办法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450592"/>
            <a:ext cx="484632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坑1：confirmVerified 太严格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internal getter 访问也被 MockK 记录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→ 改用精确 verify 关键调用就行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坑2：verifySequence vs verifyOrder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Sequence 包含所有无关调用容易失败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→ Order 只验证指定方法，更实用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坑3：DataStore JVM mock 困难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preferencesDataStore 委托需要文件系统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DataStore.edit 泛型太复杂 MockK 处理不了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→ 改为验证交互模式而非端到端 mock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坑4：Java 方法 mock 不支持命名参数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WorkManager API 是 Java 写的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→ verify/mock 时只能用位置参数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坑5：JaCoCo 对 Java 21 class 报警告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  → 不影响自己代码的统计，可忽略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560320"/>
            <a:ext cx="301752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8A6FF"/>
                </a:solidFill>
                <a:latin typeface="Microsoft YaHei"/>
              </a:defRPr>
            </a:pPr>
            <a:r>
              <a:t>移动应用测试  期末课程汇报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56616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JUnit 4 — 单元测试基础框架（60 用例，100% 通过，3.953 秒）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MockK — Kotlin Mock 框架（7 种模式，18 个 MockK 专项用例）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JaCoCo — 代码覆盖率（HTML 报告 + 50% 最低覆盖率门禁）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Kakao/Cup — Compose UI 测试（Screen Model 模式，8 个用例）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UiAutomator — 系统级跨应用测试（6 个用例，覆盖系统交互）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Monkey — 随机压力测试（3 个场景，500~10,000 事件）</a:t>
            </a:r>
          </a:p>
          <a:p>
            <a:pPr>
              <a:spcAft>
                <a:spcPts val="40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• APK 测试 — 9 步构建-分析-签名-安装-启动-卸载流水线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864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